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42B3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242B35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" y="996696"/>
            <a:ext cx="429768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499616" y="996696"/>
            <a:ext cx="429768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093976" y="996696"/>
            <a:ext cx="429768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22960" y="914400"/>
            <a:ext cx="164592" cy="164592"/>
          </a:xfrm>
          <a:prstGeom prst="ellipse">
            <a:avLst/>
          </a:prstGeom>
          <a:solidFill>
            <a:srgbClr val="3A425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914400"/>
            <a:ext cx="164592" cy="164592"/>
          </a:xfrm>
          <a:prstGeom prst="ellipse">
            <a:avLst/>
          </a:prstGeom>
          <a:solidFill>
            <a:srgbClr val="3A425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914400"/>
            <a:ext cx="164592" cy="164592"/>
          </a:xfrm>
          <a:prstGeom prst="ellipse">
            <a:avLst/>
          </a:prstGeom>
          <a:solidFill>
            <a:srgbClr val="3A425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91440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ON EMERGING TECHNOLOGIES  ·  CO5 ASSESSMENT TOOL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 and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CI/CD Pipelines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9377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RUPESH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No.: 192571055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B.Tech CSE (Bio Science)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DevSecOps &amp; Intelligent CI/CD?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unifies Development, Security, and Operations into one continuous culture</a:t>
            </a:r>
            <a:endParaRPr lang="en-US" sz="15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built into every stage of the pipeline — not bolted on at the end</a:t>
            </a:r>
            <a:endParaRPr lang="en-US" sz="15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“Intelligent” CI/CD uses AI/ML to automate, predict, and prioritize security decisions</a:t>
            </a:r>
            <a:endParaRPr lang="en-US" sz="15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build, test, security scanning, and deployment in one continuous flow</a:t>
            </a:r>
            <a:endParaRPr lang="en-US" sz="15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“shift-left” principle — catching issues as early as possible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06740" y="2766060"/>
            <a:ext cx="1051560" cy="1051560"/>
          </a:xfrm>
          <a:prstGeom prst="ellipse">
            <a:avLst/>
          </a:prstGeom>
          <a:solidFill>
            <a:srgbClr val="00C2A8">
              <a:alpha val="75000"/>
            </a:srgbClr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2580" y="2766060"/>
            <a:ext cx="1051560" cy="1051560"/>
          </a:xfrm>
          <a:prstGeom prst="ellipse">
            <a:avLst/>
          </a:prstGeom>
          <a:solidFill>
            <a:srgbClr val="0B7A75">
              <a:alpha val="75000"/>
            </a:srgbClr>
          </a:solidFill>
          <a:ln w="19050">
            <a:solidFill>
              <a:srgbClr val="0B7A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9660" y="3726180"/>
            <a:ext cx="1051560" cy="1051560"/>
          </a:xfrm>
          <a:prstGeom prst="ellipse">
            <a:avLst/>
          </a:prstGeom>
          <a:solidFill>
            <a:srgbClr val="0E8F86">
              <a:alpha val="75000"/>
            </a:srgbClr>
          </a:solidFill>
          <a:ln w="19050">
            <a:solidFill>
              <a:srgbClr val="0E8F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31272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89720" y="31272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0" y="408736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0" y="5349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=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+ Automation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NEED AND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It?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80844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808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406908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DevOps is fast, but security checks often come too late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6916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2180844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1808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1801368"/>
            <a:ext cx="406908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Late-stage fixes are far costlier than issues caught early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918204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182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538728"/>
            <a:ext cx="406908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cyberattacks demand continuous, real-time protection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34290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918204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9182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3538728"/>
            <a:ext cx="406908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security reviews can't keep pace with frequent releases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655564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555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5276088"/>
            <a:ext cx="406908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 (GDPR, HIPAA, etc.) require continuous compliance checks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51663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5655564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56555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0" y="5276088"/>
            <a:ext cx="406908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automated, intelligent vulnerability detection at scale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WORKING PRINCIPLE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207008" cy="1005840"/>
          </a:xfrm>
          <a:prstGeom prst="roundRect">
            <a:avLst>
              <a:gd name="adj" fmla="val 7273"/>
            </a:avLst>
          </a:prstGeom>
          <a:solidFill>
            <a:srgbClr val="242B3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1207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755648" y="2514600"/>
            <a:ext cx="175042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30690" y="2011680"/>
            <a:ext cx="1207008" cy="1005840"/>
          </a:xfrm>
          <a:prstGeom prst="roundRect">
            <a:avLst>
              <a:gd name="adj" fmla="val 7273"/>
            </a:avLst>
          </a:prstGeom>
          <a:solidFill>
            <a:srgbClr val="242B35"/>
          </a:solidFill>
          <a:ln/>
        </p:spPr>
      </p:sp>
      <p:sp>
        <p:nvSpPr>
          <p:cNvPr id="8" name="Text 6"/>
          <p:cNvSpPr/>
          <p:nvPr/>
        </p:nvSpPr>
        <p:spPr>
          <a:xfrm>
            <a:off x="1930690" y="2011680"/>
            <a:ext cx="1207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37698" y="2514600"/>
            <a:ext cx="175042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12741" y="2011680"/>
            <a:ext cx="1207008" cy="1005840"/>
          </a:xfrm>
          <a:prstGeom prst="roundRect">
            <a:avLst>
              <a:gd name="adj" fmla="val 7273"/>
            </a:avLst>
          </a:prstGeom>
          <a:solidFill>
            <a:srgbClr val="242B35"/>
          </a:solidFill>
          <a:ln/>
        </p:spPr>
      </p:sp>
      <p:sp>
        <p:nvSpPr>
          <p:cNvPr id="11" name="Text 9"/>
          <p:cNvSpPr/>
          <p:nvPr/>
        </p:nvSpPr>
        <p:spPr>
          <a:xfrm>
            <a:off x="3312741" y="2011680"/>
            <a:ext cx="1207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19749" y="2514600"/>
            <a:ext cx="175042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94791" y="2011680"/>
            <a:ext cx="1207008" cy="1005840"/>
          </a:xfrm>
          <a:prstGeom prst="roundRect">
            <a:avLst>
              <a:gd name="adj" fmla="val 7273"/>
            </a:avLst>
          </a:prstGeom>
          <a:solidFill>
            <a:srgbClr val="242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694791" y="2011680"/>
            <a:ext cx="1207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01799" y="2514600"/>
            <a:ext cx="175042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76841" y="2011680"/>
            <a:ext cx="1207008" cy="1005840"/>
          </a:xfrm>
          <a:prstGeom prst="roundRect">
            <a:avLst>
              <a:gd name="adj" fmla="val 7273"/>
            </a:avLst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6076841" y="2011680"/>
            <a:ext cx="1207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283849" y="2514600"/>
            <a:ext cx="175042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58891" y="2011680"/>
            <a:ext cx="1207008" cy="1005840"/>
          </a:xfrm>
          <a:prstGeom prst="roundRect">
            <a:avLst>
              <a:gd name="adj" fmla="val 7273"/>
            </a:avLst>
          </a:prstGeom>
          <a:solidFill>
            <a:srgbClr val="242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458891" y="2011680"/>
            <a:ext cx="1207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65899" y="2514600"/>
            <a:ext cx="175042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840942" y="2011680"/>
            <a:ext cx="1207008" cy="1005840"/>
          </a:xfrm>
          <a:prstGeom prst="roundRect">
            <a:avLst>
              <a:gd name="adj" fmla="val 7273"/>
            </a:avLst>
          </a:prstGeom>
          <a:solidFill>
            <a:srgbClr val="242B35"/>
          </a:solidFill>
          <a:ln/>
        </p:spPr>
      </p:sp>
      <p:sp>
        <p:nvSpPr>
          <p:cNvPr id="23" name="Text 21"/>
          <p:cNvSpPr/>
          <p:nvPr/>
        </p:nvSpPr>
        <p:spPr>
          <a:xfrm>
            <a:off x="8840942" y="2011680"/>
            <a:ext cx="1207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047950" y="2514600"/>
            <a:ext cx="175042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222992" y="2011680"/>
            <a:ext cx="1207008" cy="1005840"/>
          </a:xfrm>
          <a:prstGeom prst="roundRect">
            <a:avLst>
              <a:gd name="adj" fmla="val 7273"/>
            </a:avLst>
          </a:prstGeom>
          <a:solidFill>
            <a:srgbClr val="242B35"/>
          </a:solidFill>
          <a:ln/>
        </p:spPr>
      </p:sp>
      <p:sp>
        <p:nvSpPr>
          <p:cNvPr id="26" name="Text 24"/>
          <p:cNvSpPr/>
          <p:nvPr/>
        </p:nvSpPr>
        <p:spPr>
          <a:xfrm>
            <a:off x="10222992" y="2011680"/>
            <a:ext cx="1207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337560"/>
            <a:ext cx="1106424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61188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tools plug into every stage — not just before release (SAST, DAST, SCA)</a:t>
            </a:r>
            <a:endParaRPr lang="en-US" sz="14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models scan code patterns to predict and score vulnerabilities by risk</a:t>
            </a:r>
            <a:endParaRPr lang="en-US" sz="14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feedback loop sends findings straight back to developers</a:t>
            </a:r>
            <a:endParaRPr lang="en-US" sz="14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gates block builds that carry critical security flaws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KEY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&amp; Technologies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51460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862072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Application Security Testing — scans source code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947672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53712" y="251460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3712" y="2862072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testing on a running application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1947672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02752" y="251460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02752" y="2862072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Composition Analysis for open-source risk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050792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46177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Security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4965192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containers &amp; infrastructure-as-code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4050792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53712" y="46177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Engine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53712" y="4965192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&amp; smart risk scoring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4050792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02752" y="46177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Tools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02752" y="4965192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Jenkins, GitHub Actions, GitLab CI, Azure DevOps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APPLICATIONS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242B3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8084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808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856232"/>
            <a:ext cx="40233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Banking &amp; Finance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AB4C0"/>
                </a:solidFill>
              </a:rPr>
              <a:t>Continuous compliance &amp; fraud-resistant deployments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16916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242B35"/>
          </a:solidFill>
          <a:ln/>
        </p:spPr>
      </p:sp>
      <p:sp>
        <p:nvSpPr>
          <p:cNvPr id="9" name="Shape 7"/>
          <p:cNvSpPr/>
          <p:nvPr/>
        </p:nvSpPr>
        <p:spPr>
          <a:xfrm>
            <a:off x="6291072" y="218084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6291072" y="21808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03720" y="1856232"/>
            <a:ext cx="40233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Healthcare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AB4C0"/>
                </a:solidFill>
              </a:rPr>
              <a:t>HIPAA-compliant secure software delivery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242B35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91820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9182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593592"/>
            <a:ext cx="40233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E-Commerce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AB4C0"/>
                </a:solidFill>
              </a:rPr>
              <a:t>Rapid, secure feature releases at scale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35040" y="34290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242B35"/>
          </a:solidFill>
          <a:ln/>
        </p:spPr>
      </p:sp>
      <p:sp>
        <p:nvSpPr>
          <p:cNvPr id="17" name="Shape 15"/>
          <p:cNvSpPr/>
          <p:nvPr/>
        </p:nvSpPr>
        <p:spPr>
          <a:xfrm>
            <a:off x="6291072" y="391820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39182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03720" y="3593592"/>
            <a:ext cx="40233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Cloud-Native Apps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AB4C0"/>
                </a:solidFill>
              </a:rPr>
              <a:t>Automated security for microservices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242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565556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6555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330952"/>
            <a:ext cx="40233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Kubernetes / Containers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AB4C0"/>
                </a:solidFill>
              </a:rPr>
              <a:t>Continuous container image scanning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35040" y="51663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242B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291072" y="565556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56555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03720" y="5330952"/>
            <a:ext cx="40233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Production Systems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AB4C0"/>
                </a:solidFill>
              </a:rPr>
              <a:t>Automated vulnerability patching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ADVANTAGES &amp; 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to Consider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4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526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safer releases with early vulnerability detection</a:t>
            </a:r>
            <a:endParaRPr lang="en-US" sz="13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— fixing issues early is far cheaper</a:t>
            </a:r>
            <a:endParaRPr lang="en-US" sz="13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compliance and audit-readiness</a:t>
            </a:r>
            <a:endParaRPr lang="en-US" sz="13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collaboration between Dev, Sec &amp; Ops teams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80760" y="173736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242B3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011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514600"/>
            <a:ext cx="4526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initial setup and tool integration</a:t>
            </a:r>
            <a:endParaRPr lang="en-US" sz="13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cultural shift and team upskilling</a:t>
            </a:r>
            <a:endParaRPr lang="en-US" sz="13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from scans can slow the pipeline</a:t>
            </a:r>
            <a:endParaRPr lang="en-US" sz="13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 depends on quality of training data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TRENDS &amp; FUTURE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Trends and 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TRENDS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threat prediction and auto-remediation</a:t>
            </a:r>
            <a:endParaRPr lang="en-US" sz="13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AND shift-right security integration</a:t>
            </a:r>
            <a:endParaRPr lang="en-US" sz="13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and Security-as-Code adoption</a:t>
            </a:r>
            <a:endParaRPr lang="en-US" sz="13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assistants for automated secure code review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783080"/>
            <a:ext cx="0" cy="420624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SCOPE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46520" y="205740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release speed with thorough security checks</a:t>
            </a:r>
            <a:endParaRPr lang="en-US" sz="13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AI security tools across platforms</a:t>
            </a:r>
            <a:endParaRPr lang="en-US" sz="13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shift toward autonomous, self-healing pipelines</a:t>
            </a:r>
            <a:endParaRPr lang="en-US" sz="135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trust and explainability in AI-driven decisions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Example: E-Commerce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242B3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e-commerce company adopts DevSecOps to secure its microservices-based CI/CD pipeline across frequent daily releases.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8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Scanning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&amp; SCA tools scan every code commit automatically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30175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8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329184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3931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Scoring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high-risk vulnerabilities before merge approval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30175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329184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21040" y="3931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210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secure builds pass through the release gate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fewer post-deployment security incidents and faster, more confident release cycles.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242B3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389120"/>
            <a:ext cx="4572000" cy="4572000"/>
          </a:xfrm>
          <a:prstGeom prst="ellipse">
            <a:avLst/>
          </a:prstGeom>
          <a:solidFill>
            <a:srgbClr val="242B3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0408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References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+ Intelligent CI/CD deliver software that is secure, fast, and reliable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modern cloud-native and AI-driven development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automation, continuous security, and continuous improvement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0" cy="4114800"/>
          </a:xfrm>
          <a:prstGeom prst="line">
            <a:avLst/>
          </a:prstGeom>
          <a:noFill/>
          <a:ln w="12700">
            <a:solidFill>
              <a:srgbClr val="3A42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28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19456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DevSecOps Guidelines</a:t>
            </a:r>
            <a:endParaRPr lang="en-US" sz="130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Secure Software Development Framework (SSDF)</a:t>
            </a:r>
            <a:endParaRPr lang="en-US" sz="130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State of the Octoverse / DevOps Reports</a:t>
            </a:r>
            <a:endParaRPr lang="en-US" sz="1300" dirty="0"/>
          </a:p>
          <a:p>
            <a:pPr marL="228600" indent="-2286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research on DevSecOps and AI in software delivery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2026-08-24T14:55:46Z</dcterms:created>
  <dcterms:modified xsi:type="dcterms:W3CDTF">2026-08-24T14:55:46Z</dcterms:modified>
</cp:coreProperties>
</file>